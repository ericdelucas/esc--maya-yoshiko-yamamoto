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43200000" cx="28800000"/>
  <p:notesSz cx="6858000" cy="9144000"/>
  <p:embeddedFontLst>
    <p:embeddedFont>
      <p:font typeface="Inter"/>
      <p:regular r:id="rId7"/>
      <p:bold r:id="rId8"/>
      <p:italic r:id="rId9"/>
      <p:boldItalic r:id="rId10"/>
    </p:embeddedFont>
    <p:embeddedFont>
      <p:font typeface="Open Sans"/>
      <p:regular r:id="rId11"/>
      <p:bold r:id="rId12"/>
      <p:italic r:id="rId13"/>
      <p:boldItalic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  <p:ext uri="GoogleSlidesCustomDataVersion2">
      <go:slidesCustomData xmlns:go="http://customooxmlschemas.google.com/" r:id="rId15" roundtripDataSignature="AMtx7mjf0usFWD5G9003LM6/9WjtB9Lal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4366" orient="horz"/>
        <p:guide pos="5488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OpenSans-regular.fntdata"/><Relationship Id="rId10" Type="http://schemas.openxmlformats.org/officeDocument/2006/relationships/font" Target="fonts/Inter-boldItalic.fntdata"/><Relationship Id="rId13" Type="http://schemas.openxmlformats.org/officeDocument/2006/relationships/font" Target="fonts/OpenSans-italic.fntdata"/><Relationship Id="rId12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Inter-italic.fntdata"/><Relationship Id="rId15" Type="http://customschemas.google.com/relationships/presentationmetadata" Target="metadata"/><Relationship Id="rId14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Inter-regular.fntdata"/><Relationship Id="rId8" Type="http://schemas.openxmlformats.org/officeDocument/2006/relationships/font" Target="fonts/Inter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6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6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ctrTitle"/>
          </p:nvPr>
        </p:nvSpPr>
        <p:spPr>
          <a:xfrm>
            <a:off x="1306891" y="4305885"/>
            <a:ext cx="14811300" cy="29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8385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4"/>
          <p:cNvSpPr txBox="1"/>
          <p:nvPr>
            <p:ph idx="1" type="subTitle"/>
          </p:nvPr>
        </p:nvSpPr>
        <p:spPr>
          <a:xfrm>
            <a:off x="2613781" y="7854548"/>
            <a:ext cx="12197700" cy="354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 sz="6098"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 sz="5336"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 sz="4574"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871260" y="555081"/>
            <a:ext cx="15682800" cy="23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8385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871260" y="3234226"/>
            <a:ext cx="15682800" cy="91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898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6098"/>
            </a:lvl1pPr>
            <a:lvl2pPr indent="-342898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5336"/>
            </a:lvl2pPr>
            <a:lvl3pPr indent="-342898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4574"/>
            </a:lvl3pPr>
            <a:lvl4pPr indent="-342898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3811"/>
            </a:lvl4pPr>
            <a:lvl5pPr indent="-342898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3811"/>
            </a:lvl5pPr>
            <a:lvl6pPr indent="-342898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6pPr>
            <a:lvl7pPr indent="-342898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7pPr>
            <a:lvl8pPr indent="-342898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8pPr>
            <a:lvl9pPr indent="-342898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9pPr>
          </a:lstStyle>
          <a:p/>
        </p:txBody>
      </p:sp>
      <p:sp>
        <p:nvSpPr>
          <p:cNvPr id="24" name="Google Shape;24;p5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25" name="Google Shape;25;p5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1376472" y="8906955"/>
            <a:ext cx="14811300" cy="275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b="1" sz="7623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1376472" y="5874870"/>
            <a:ext cx="14811300" cy="3032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31" name="Google Shape;31;p6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871260" y="555081"/>
            <a:ext cx="15682800" cy="23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8385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871260" y="3234226"/>
            <a:ext cx="7696200" cy="91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67431" lvl="0" marL="45720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indent="-519045" lvl="1" marL="9144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indent="-470595" lvl="2" marL="1371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indent="-446402" lvl="3" marL="1828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indent="-446402" lvl="4" marL="22860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indent="-446402" lvl="5" marL="27432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indent="-446402" lvl="6" marL="32004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indent="-446402" lvl="7" marL="3657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indent="-446402" lvl="8" marL="4114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/>
        </p:txBody>
      </p:sp>
      <p:sp>
        <p:nvSpPr>
          <p:cNvPr id="36" name="Google Shape;36;p7"/>
          <p:cNvSpPr txBox="1"/>
          <p:nvPr>
            <p:ph idx="2" type="body"/>
          </p:nvPr>
        </p:nvSpPr>
        <p:spPr>
          <a:xfrm>
            <a:off x="8857815" y="3234226"/>
            <a:ext cx="7696200" cy="91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67431" lvl="0" marL="45720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indent="-519045" lvl="1" marL="9144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indent="-470595" lvl="2" marL="1371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indent="-446402" lvl="3" marL="1828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indent="-446402" lvl="4" marL="22860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indent="-446402" lvl="5" marL="27432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indent="-446402" lvl="6" marL="32004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indent="-446402" lvl="7" marL="3657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indent="-446402" lvl="8" marL="4114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/>
        </p:txBody>
      </p:sp>
      <p:sp>
        <p:nvSpPr>
          <p:cNvPr id="37" name="Google Shape;37;p7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38" name="Google Shape;38;p7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>
            <a:off x="871260" y="555081"/>
            <a:ext cx="15682800" cy="23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sz="8385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2" name="Google Shape;42;p8"/>
          <p:cNvSpPr txBox="1"/>
          <p:nvPr>
            <p:ph idx="1" type="body"/>
          </p:nvPr>
        </p:nvSpPr>
        <p:spPr>
          <a:xfrm>
            <a:off x="871260" y="3102676"/>
            <a:ext cx="76992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b="1" sz="4574"/>
            </a:lvl1pPr>
            <a:lvl2pPr indent="-228600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b="1" sz="3811"/>
            </a:lvl2pPr>
            <a:lvl3pPr indent="-228600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b="1" sz="3430"/>
            </a:lvl3pPr>
            <a:lvl4pPr indent="-228600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4pPr>
            <a:lvl5pPr indent="-228600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5pPr>
            <a:lvl6pPr indent="-228600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6pPr>
            <a:lvl7pPr indent="-228600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7pPr>
            <a:lvl8pPr indent="-228600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8pPr>
            <a:lvl9pPr indent="-228600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9pPr>
          </a:lstStyle>
          <a:p/>
        </p:txBody>
      </p:sp>
      <p:sp>
        <p:nvSpPr>
          <p:cNvPr id="43" name="Google Shape;43;p8"/>
          <p:cNvSpPr txBox="1"/>
          <p:nvPr>
            <p:ph idx="2" type="body"/>
          </p:nvPr>
        </p:nvSpPr>
        <p:spPr>
          <a:xfrm>
            <a:off x="871260" y="4395723"/>
            <a:ext cx="7699200" cy="79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19045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indent="-470595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indent="-446402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indent="-422209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indent="-422209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indent="-422209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indent="-422209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indent="-422209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indent="-422209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/>
        </p:txBody>
      </p:sp>
      <p:sp>
        <p:nvSpPr>
          <p:cNvPr id="44" name="Google Shape;44;p8"/>
          <p:cNvSpPr txBox="1"/>
          <p:nvPr>
            <p:ph idx="3" type="body"/>
          </p:nvPr>
        </p:nvSpPr>
        <p:spPr>
          <a:xfrm>
            <a:off x="8851765" y="3102676"/>
            <a:ext cx="77022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b="1" sz="4574"/>
            </a:lvl1pPr>
            <a:lvl2pPr indent="-228600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b="1" sz="3811"/>
            </a:lvl2pPr>
            <a:lvl3pPr indent="-228600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b="1" sz="3430"/>
            </a:lvl3pPr>
            <a:lvl4pPr indent="-228600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4pPr>
            <a:lvl5pPr indent="-228600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5pPr>
            <a:lvl6pPr indent="-228600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6pPr>
            <a:lvl7pPr indent="-228600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7pPr>
            <a:lvl8pPr indent="-228600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8pPr>
            <a:lvl9pPr indent="-228600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9pPr>
          </a:lstStyle>
          <a:p/>
        </p:txBody>
      </p:sp>
      <p:sp>
        <p:nvSpPr>
          <p:cNvPr id="45" name="Google Shape;45;p8"/>
          <p:cNvSpPr txBox="1"/>
          <p:nvPr>
            <p:ph idx="4" type="body"/>
          </p:nvPr>
        </p:nvSpPr>
        <p:spPr>
          <a:xfrm>
            <a:off x="8851765" y="4395723"/>
            <a:ext cx="7702200" cy="79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19045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indent="-470595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indent="-446402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indent="-422209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indent="-422209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indent="-422209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indent="-422209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indent="-422209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indent="-422209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/>
        </p:txBody>
      </p:sp>
      <p:sp>
        <p:nvSpPr>
          <p:cNvPr id="46" name="Google Shape;46;p8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47" name="Google Shape;47;p8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48" name="Google Shape;48;p8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871260" y="555081"/>
            <a:ext cx="15682800" cy="23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8385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51" name="Google Shape;51;p9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871261" y="551872"/>
            <a:ext cx="5732700" cy="234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b="1" sz="381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6812773" y="551873"/>
            <a:ext cx="9741000" cy="118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615817" lvl="0" marL="457200" algn="l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indent="-567431" lvl="1" marL="91440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indent="-519045" lvl="2" marL="13716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indent="-470595" lvl="3" marL="18288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indent="-470595" lvl="4" marL="22860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indent="-470595" lvl="5" marL="27432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indent="-470595" lvl="6" marL="3200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indent="-470595" lvl="7" marL="3657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indent="-470595" lvl="8" marL="41148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871261" y="2900537"/>
            <a:ext cx="5732700" cy="94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indent="-228600" lvl="1" marL="9144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indent="-228600" lvl="2" marL="1371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indent="-228600" lvl="3" marL="1828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indent="-228600" lvl="4" marL="22860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indent="-228600" lvl="5" marL="27432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indent="-228600" lvl="6" marL="32004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indent="-228600" lvl="7" marL="3657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indent="-228600" lvl="8" marL="4114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3415464" y="9702677"/>
            <a:ext cx="104550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b="1" sz="381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3415464" y="1238503"/>
            <a:ext cx="10455000" cy="83166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3415464" y="10848133"/>
            <a:ext cx="10455000" cy="162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indent="-228600" lvl="1" marL="9144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indent="-228600" lvl="2" marL="1371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indent="-228600" lvl="3" marL="1828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indent="-228600" lvl="4" marL="22860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indent="-228600" lvl="5" marL="27432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indent="-228600" lvl="6" marL="32004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indent="-228600" lvl="7" marL="3657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indent="-228600" lvl="8" marL="4114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871260" y="555081"/>
            <a:ext cx="15682800" cy="23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8385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4138750" y="-33373"/>
            <a:ext cx="9147600" cy="156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898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6098"/>
            </a:lvl1pPr>
            <a:lvl2pPr indent="-342898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5336"/>
            </a:lvl2pPr>
            <a:lvl3pPr indent="-342898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4574"/>
            </a:lvl3pPr>
            <a:lvl4pPr indent="-342898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3811"/>
            </a:lvl4pPr>
            <a:lvl5pPr indent="-342898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3811"/>
            </a:lvl5pPr>
            <a:lvl6pPr indent="-342898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6pPr>
            <a:lvl7pPr indent="-342898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7pPr>
            <a:lvl8pPr indent="-342898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8pPr>
            <a:lvl9pPr indent="-342898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8680300" y="4508032"/>
            <a:ext cx="11826600" cy="392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8385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693706" y="732532"/>
            <a:ext cx="11826600" cy="1147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898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6098"/>
            </a:lvl1pPr>
            <a:lvl2pPr indent="-342898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5336"/>
            </a:lvl2pPr>
            <a:lvl3pPr indent="-342898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4574"/>
            </a:lvl3pPr>
            <a:lvl4pPr indent="-342898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3811"/>
            </a:lvl4pPr>
            <a:lvl5pPr indent="-342898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3811"/>
            </a:lvl5pPr>
            <a:lvl6pPr indent="-342898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6pPr>
            <a:lvl7pPr indent="-342898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7pPr>
            <a:lvl8pPr indent="-342898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8pPr>
            <a:lvl9pPr indent="-342898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3811"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8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552"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871260" y="555081"/>
            <a:ext cx="15682800" cy="23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b="0" i="0" sz="838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871260" y="3234226"/>
            <a:ext cx="15682800" cy="91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615817" lvl="0" marL="457200" marR="0" rtl="0" algn="l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b="0" i="0" sz="609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567431" lvl="1" marL="914400" marR="0" rtl="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b="0" i="0" sz="5336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519045" lvl="2" marL="1371600" marR="0" rtl="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b="0" i="0" sz="4574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470595" lvl="3" marL="18288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70595" lvl="4" marL="22860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470595" lvl="5" marL="27432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470595" lvl="6" marL="32004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470595" lvl="7" marL="36576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470595" lvl="8" marL="41148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871261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5953613" y="12847063"/>
            <a:ext cx="5517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12488068" y="12847063"/>
            <a:ext cx="4065900" cy="7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11" Type="http://schemas.openxmlformats.org/officeDocument/2006/relationships/image" Target="../media/image5.jpg"/><Relationship Id="rId10" Type="http://schemas.openxmlformats.org/officeDocument/2006/relationships/image" Target="../media/image6.jpg"/><Relationship Id="rId9" Type="http://schemas.openxmlformats.org/officeDocument/2006/relationships/hyperlink" Target="https://www.instagram.com/rpg.maya/" TargetMode="External"/><Relationship Id="rId5" Type="http://schemas.openxmlformats.org/officeDocument/2006/relationships/image" Target="../media/image4.png"/><Relationship Id="rId6" Type="http://schemas.openxmlformats.org/officeDocument/2006/relationships/image" Target="../media/image2.png"/><Relationship Id="rId7" Type="http://schemas.openxmlformats.org/officeDocument/2006/relationships/hyperlink" Target="https://mayayamamoto.com.br/" TargetMode="External"/><Relationship Id="rId8" Type="http://schemas.openxmlformats.org/officeDocument/2006/relationships/hyperlink" Target="https://br.linkedin.com/in/maya-yoshiko-yamamoto-bb18a736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4F37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34718" y="36272512"/>
            <a:ext cx="29324581" cy="6967953"/>
            <a:chOff x="0" y="-47625"/>
            <a:chExt cx="3032124" cy="65520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3032124" cy="607578"/>
            </a:xfrm>
            <a:custGeom>
              <a:rect b="b" l="l" r="r" t="t"/>
              <a:pathLst>
                <a:path extrusionOk="0" h="607578" w="3032124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3163190" y="34829191"/>
            <a:ext cx="22761119" cy="14305961"/>
          </a:xfrm>
          <a:custGeom>
            <a:rect b="b" l="l" r="r" t="t"/>
            <a:pathLst>
              <a:path extrusionOk="0" h="7509691" w="11948094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-234717" y="28799949"/>
            <a:ext cx="29303652" cy="9759567"/>
            <a:chOff x="0" y="-47625"/>
            <a:chExt cx="3163653" cy="917701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3163653" cy="870076"/>
            </a:xfrm>
            <a:custGeom>
              <a:rect b="b" l="l" r="r" t="t"/>
              <a:pathLst>
                <a:path extrusionOk="0" h="870076" w="3163653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l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234722" y="21009998"/>
            <a:ext cx="29303786" cy="9460356"/>
            <a:chOff x="0" y="-47625"/>
            <a:chExt cx="3225442" cy="889566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25442" cy="841941"/>
            </a:xfrm>
            <a:custGeom>
              <a:rect b="b" l="l" r="r" t="t"/>
              <a:pathLst>
                <a:path extrusionOk="0" h="841941" w="3225442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"/>
          <p:cNvGrpSpPr/>
          <p:nvPr/>
        </p:nvGrpSpPr>
        <p:grpSpPr>
          <a:xfrm>
            <a:off x="-234722" y="15561152"/>
            <a:ext cx="29303659" cy="8372799"/>
            <a:chOff x="0" y="-47625"/>
            <a:chExt cx="3032124" cy="787302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3032124" cy="739677"/>
            </a:xfrm>
            <a:custGeom>
              <a:rect b="b" l="l" r="r" t="t"/>
              <a:pathLst>
                <a:path extrusionOk="0" h="739677" w="3032124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>
            <a:off x="-234722" y="6816054"/>
            <a:ext cx="29303622" cy="9460349"/>
            <a:chOff x="0" y="-47625"/>
            <a:chExt cx="3218728" cy="867524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3218728" cy="819899"/>
            </a:xfrm>
            <a:custGeom>
              <a:rect b="b" l="l" r="r" t="t"/>
              <a:pathLst>
                <a:path extrusionOk="0" h="819899" w="3218728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-234722" y="-573864"/>
            <a:ext cx="29303511" cy="9049853"/>
            <a:chOff x="0" y="-47625"/>
            <a:chExt cx="2755436" cy="850966"/>
          </a:xfrm>
        </p:grpSpPr>
        <p:sp>
          <p:nvSpPr>
            <p:cNvPr id="101" name="Google Shape;101;p1"/>
            <p:cNvSpPr/>
            <p:nvPr/>
          </p:nvSpPr>
          <p:spPr>
            <a:xfrm>
              <a:off x="0" y="0"/>
              <a:ext cx="2755436" cy="803341"/>
            </a:xfrm>
            <a:custGeom>
              <a:rect b="b" l="l" r="r" t="t"/>
              <a:pathLst>
                <a:path extrusionOk="0" h="803341" w="2755436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"/>
          <p:cNvGrpSpPr/>
          <p:nvPr/>
        </p:nvGrpSpPr>
        <p:grpSpPr>
          <a:xfrm rot="-5400000">
            <a:off x="11084248" y="13184337"/>
            <a:ext cx="20463723" cy="13033876"/>
            <a:chOff x="0" y="-47625"/>
            <a:chExt cx="1922704" cy="1224620"/>
          </a:xfrm>
        </p:grpSpPr>
        <p:sp>
          <p:nvSpPr>
            <p:cNvPr id="104" name="Google Shape;104;p1"/>
            <p:cNvSpPr/>
            <p:nvPr/>
          </p:nvSpPr>
          <p:spPr>
            <a:xfrm>
              <a:off x="0" y="0"/>
              <a:ext cx="1922704" cy="1176995"/>
            </a:xfrm>
            <a:custGeom>
              <a:rect b="b" l="l" r="r" t="t"/>
              <a:pathLst>
                <a:path extrusionOk="0" h="1176995" w="1922704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000" lIns="89000" spcFirstLastPara="1" rIns="89000" wrap="square" tIns="89000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"/>
          <p:cNvGrpSpPr/>
          <p:nvPr/>
        </p:nvGrpSpPr>
        <p:grpSpPr>
          <a:xfrm>
            <a:off x="927161" y="30010788"/>
            <a:ext cx="13848275" cy="8125737"/>
            <a:chOff x="0" y="-47625"/>
            <a:chExt cx="1302166" cy="868357"/>
          </a:xfrm>
        </p:grpSpPr>
        <p:sp>
          <p:nvSpPr>
            <p:cNvPr id="107" name="Google Shape;107;p1"/>
            <p:cNvSpPr/>
            <p:nvPr/>
          </p:nvSpPr>
          <p:spPr>
            <a:xfrm>
              <a:off x="0" y="0"/>
              <a:ext cx="1302166" cy="820732"/>
            </a:xfrm>
            <a:custGeom>
              <a:rect b="b" l="l" r="r" t="t"/>
              <a:pathLst>
                <a:path extrusionOk="0" h="820732" w="1302166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"/>
          <p:cNvGrpSpPr/>
          <p:nvPr/>
        </p:nvGrpSpPr>
        <p:grpSpPr>
          <a:xfrm>
            <a:off x="15403073" y="29988572"/>
            <a:ext cx="12527629" cy="8126059"/>
            <a:chOff x="0" y="-314078"/>
            <a:chExt cx="8764870" cy="5685342"/>
          </a:xfrm>
        </p:grpSpPr>
        <p:grpSp>
          <p:nvGrpSpPr>
            <p:cNvPr id="110" name="Google Shape;110;p1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rect b="b" l="l" r="r" t="t"/>
                <a:pathLst>
                  <a:path extrusionOk="0" h="814469" w="1329056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cap="sq" cmpd="sng" w="19050">
                <a:solidFill>
                  <a:srgbClr val="000000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r>
                  <a:t/>
                </a:r>
                <a:endParaRPr b="0" i="0" sz="6769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6800" lIns="96800" spcFirstLastPara="1" rIns="96800" wrap="square" tIns="96800">
                <a:noAutofit/>
              </a:bodyPr>
              <a:lstStyle/>
              <a:p>
                <a:pPr indent="0" lvl="0" marL="0" marR="0" rtl="0" algn="ctr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r>
                  <a:t/>
                </a:r>
                <a:endParaRPr b="0" i="0" sz="6769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"/>
            <p:cNvSpPr txBox="1"/>
            <p:nvPr/>
          </p:nvSpPr>
          <p:spPr>
            <a:xfrm>
              <a:off x="2636738" y="146577"/>
              <a:ext cx="3491400" cy="512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762"/>
                <a:buFont typeface="Arial"/>
                <a:buNone/>
              </a:pPr>
              <a:r>
                <a:rPr b="1" i="0" lang="en-US" sz="4762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REFERÊNCIAS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4" name="Google Shape;114;p1"/>
          <p:cNvSpPr/>
          <p:nvPr/>
        </p:nvSpPr>
        <p:spPr>
          <a:xfrm>
            <a:off x="-916529" y="1525331"/>
            <a:ext cx="8568160" cy="2453356"/>
          </a:xfrm>
          <a:custGeom>
            <a:rect b="b" l="l" r="r" t="t"/>
            <a:pathLst>
              <a:path extrusionOk="0" h="1287851" w="4497722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3163203" y="-5046437"/>
            <a:ext cx="22761119" cy="14305961"/>
          </a:xfrm>
          <a:custGeom>
            <a:rect b="b" l="l" r="r" t="t"/>
            <a:pathLst>
              <a:path extrusionOk="0" h="7509691" w="11948094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21153369" y="1584882"/>
            <a:ext cx="7225835" cy="2334237"/>
          </a:xfrm>
          <a:custGeom>
            <a:rect b="b" l="l" r="r" t="t"/>
            <a:pathLst>
              <a:path extrusionOk="0" h="1225321" w="3793089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"/>
          <p:cNvSpPr txBox="1"/>
          <p:nvPr/>
        </p:nvSpPr>
        <p:spPr>
          <a:xfrm>
            <a:off x="5431978" y="12099702"/>
            <a:ext cx="4989900" cy="7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77"/>
              <a:buFont typeface="Arial"/>
              <a:buNone/>
            </a:pPr>
            <a:r>
              <a:rPr b="1" i="0" lang="en-US" sz="5077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" name="Google Shape;118;p1"/>
          <p:cNvGrpSpPr/>
          <p:nvPr/>
        </p:nvGrpSpPr>
        <p:grpSpPr>
          <a:xfrm rot="-5400000">
            <a:off x="2462253" y="7444806"/>
            <a:ext cx="10271251" cy="14355165"/>
            <a:chOff x="0" y="-47625"/>
            <a:chExt cx="958980" cy="1348764"/>
          </a:xfrm>
        </p:grpSpPr>
        <p:sp>
          <p:nvSpPr>
            <p:cNvPr id="119" name="Google Shape;119;p1"/>
            <p:cNvSpPr/>
            <p:nvPr/>
          </p:nvSpPr>
          <p:spPr>
            <a:xfrm>
              <a:off x="0" y="0"/>
              <a:ext cx="958980" cy="1301139"/>
            </a:xfrm>
            <a:custGeom>
              <a:rect b="b" l="l" r="r" t="t"/>
              <a:pathLst>
                <a:path extrusionOk="0" h="1301139" w="95898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20;p1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000" lIns="89000" spcFirstLastPara="1" rIns="89000" wrap="square" tIns="89000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" name="Google Shape;121;p1"/>
          <p:cNvGrpSpPr/>
          <p:nvPr/>
        </p:nvGrpSpPr>
        <p:grpSpPr>
          <a:xfrm rot="-5400000">
            <a:off x="2615958" y="17805178"/>
            <a:ext cx="9963813" cy="14355165"/>
            <a:chOff x="0" y="-47625"/>
            <a:chExt cx="936167" cy="1348764"/>
          </a:xfrm>
        </p:grpSpPr>
        <p:sp>
          <p:nvSpPr>
            <p:cNvPr id="122" name="Google Shape;122;p1"/>
            <p:cNvSpPr/>
            <p:nvPr/>
          </p:nvSpPr>
          <p:spPr>
            <a:xfrm>
              <a:off x="0" y="0"/>
              <a:ext cx="936167" cy="1301139"/>
            </a:xfrm>
            <a:custGeom>
              <a:rect b="b" l="l" r="r" t="t"/>
              <a:pathLst>
                <a:path extrusionOk="0" h="1301139" w="936167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1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000" lIns="89000" spcFirstLastPara="1" rIns="89000" wrap="square" tIns="89000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4" name="Google Shape;124;p1"/>
          <p:cNvSpPr/>
          <p:nvPr/>
        </p:nvSpPr>
        <p:spPr>
          <a:xfrm>
            <a:off x="22526919" y="36800907"/>
            <a:ext cx="5607114" cy="5640292"/>
          </a:xfrm>
          <a:custGeom>
            <a:rect b="b" l="l" r="r" t="t"/>
            <a:pathLst>
              <a:path extrusionOk="0" h="2960783" w="2943367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"/>
          <p:cNvSpPr txBox="1"/>
          <p:nvPr/>
        </p:nvSpPr>
        <p:spPr>
          <a:xfrm>
            <a:off x="6388918" y="3475675"/>
            <a:ext cx="16022100" cy="17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34"/>
              <a:buFont typeface="Arial"/>
              <a:buNone/>
            </a:pPr>
            <a:r>
              <a:rPr b="1" i="0" lang="en-US" sz="11434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PROJETO </a:t>
            </a:r>
            <a:r>
              <a:rPr b="1" lang="en-US" sz="11434">
                <a:latin typeface="Open Sans"/>
                <a:ea typeface="Open Sans"/>
                <a:cs typeface="Open Sans"/>
                <a:sym typeface="Open Sans"/>
              </a:rPr>
              <a:t>SmartSaúde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"/>
          <p:cNvSpPr txBox="1"/>
          <p:nvPr/>
        </p:nvSpPr>
        <p:spPr>
          <a:xfrm>
            <a:off x="927161" y="5559620"/>
            <a:ext cx="26906100" cy="27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lang="en-US" sz="4762">
                <a:latin typeface="Open Sans"/>
                <a:ea typeface="Open Sans"/>
                <a:cs typeface="Open Sans"/>
                <a:sym typeface="Open Sans"/>
              </a:rPr>
              <a:t>Eric de Lucas Silva, Stephanie Macedo da Silva e En Hsiang Chien.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Orientadores: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Victor Bruno Alexander Rosetti de Quiroz</a:t>
            </a:r>
            <a:r>
              <a:rPr b="0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Marco Aurelio Zanote</a:t>
            </a:r>
            <a:r>
              <a:rPr b="0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Katia Milani Lara Bossi e Rodrigo da Rosa.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"/>
          <p:cNvSpPr txBox="1"/>
          <p:nvPr/>
        </p:nvSpPr>
        <p:spPr>
          <a:xfrm>
            <a:off x="16131649" y="28850895"/>
            <a:ext cx="4989900" cy="106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Inter"/>
                <a:ea typeface="Inter"/>
                <a:cs typeface="Inter"/>
                <a:sym typeface="Inter"/>
              </a:rPr>
              <a:t>Tela de relatórios</a:t>
            </a:r>
            <a:endParaRPr sz="3430"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Inter"/>
                <a:ea typeface="Inter"/>
                <a:cs typeface="Inter"/>
                <a:sym typeface="Inter"/>
              </a:rPr>
              <a:t> dos pacientes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"/>
          <p:cNvSpPr txBox="1"/>
          <p:nvPr/>
        </p:nvSpPr>
        <p:spPr>
          <a:xfrm>
            <a:off x="2758145" y="30792409"/>
            <a:ext cx="10186200" cy="7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TECNOLOGIAS UTILIZADAS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"/>
          <p:cNvSpPr txBox="1"/>
          <p:nvPr/>
        </p:nvSpPr>
        <p:spPr>
          <a:xfrm>
            <a:off x="16608110" y="9857952"/>
            <a:ext cx="10186200" cy="7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"/>
          <p:cNvSpPr txBox="1"/>
          <p:nvPr/>
        </p:nvSpPr>
        <p:spPr>
          <a:xfrm>
            <a:off x="5072638" y="9921419"/>
            <a:ext cx="5609100" cy="7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PROBLEMA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"/>
          <p:cNvSpPr txBox="1"/>
          <p:nvPr/>
        </p:nvSpPr>
        <p:spPr>
          <a:xfrm>
            <a:off x="5356383" y="20356905"/>
            <a:ext cx="4989900" cy="7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PROPOSTA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"/>
          <p:cNvSpPr txBox="1"/>
          <p:nvPr/>
        </p:nvSpPr>
        <p:spPr>
          <a:xfrm>
            <a:off x="15582395" y="31855364"/>
            <a:ext cx="12168300" cy="644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46398" lvl="1" marL="914386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•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YAMAMOTO, Maya Yoshiko. Site oficial da clínica RPG Maya. Disponível em:</a:t>
            </a:r>
            <a:r>
              <a:rPr lang="en-US" sz="3430"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7"/>
              </a:rPr>
              <a:t>https://mayayamamoto.com.br/</a:t>
            </a: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. 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-446398" lvl="1" marL="914386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•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YAMAMOTO, Maya Yoshiko. Perfil profissional no LinkedIn. Disponível em: </a:t>
            </a:r>
            <a:r>
              <a:rPr lang="en-US" sz="3430"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8"/>
              </a:rPr>
              <a:t>https://br.linkedin.com/in/maya-yoshiko-yamamoto-bb18a736</a:t>
            </a: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. 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-446398" lvl="1" marL="914386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•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CLÍNICA RPG MAYA. Perfil no Instagram. Disponível em:</a:t>
            </a:r>
            <a:r>
              <a:rPr lang="en-US" sz="3430"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9"/>
              </a:rPr>
              <a:t> https://www.instagram.com/rpg.maya/</a:t>
            </a: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sz="1100">
              <a:solidFill>
                <a:schemeClr val="dk1"/>
              </a:solidFill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t/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3" name="Google Shape;133;p1"/>
          <p:cNvSpPr txBox="1"/>
          <p:nvPr/>
        </p:nvSpPr>
        <p:spPr>
          <a:xfrm>
            <a:off x="1595851" y="31719391"/>
            <a:ext cx="12562500" cy="391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As tecnologias utilizadas no desenvolvimento do sistema foram selecionadas com o objetivo de garantir desempenho, escalabilidade e eficiência na comunicação entre frontend e backend.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"/>
          <p:cNvSpPr txBox="1"/>
          <p:nvPr/>
        </p:nvSpPr>
        <p:spPr>
          <a:xfrm>
            <a:off x="1570002" y="10992504"/>
            <a:ext cx="12562500" cy="903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 clínica RPG Maya enfrenta dificuldades na organização e no acompanhamento dos pacientes. Antes, a própria Maya realizava o registro manual em papel, como dados dos pacientes, sessões, datas e histórico, o que tornava o controle pouco eficiente diante do grande volume de informações.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Além disso, havia problemas relacionados ao controle de datas e retornos, já que muitos pacientes esqueciam consultas por falta de um sistema de agendamento com lembretes. Outro ponto crítico era a dificuldade na geração de relatórios, o que prejudicava o monitoramento do progresso dos pacientes e a análise das informações clínicas.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t/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5" name="Google Shape;135;p1"/>
          <p:cNvSpPr txBox="1"/>
          <p:nvPr/>
        </p:nvSpPr>
        <p:spPr>
          <a:xfrm>
            <a:off x="1779636" y="21417715"/>
            <a:ext cx="12294300" cy="827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 proposta do projeto é um aplicativo, com o objetivo de otimizar a gestão e o acompanhamento dos pacientes, substituindo o controle manual por uma solução digital estruturada.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O sistema permite o armazenamento e gerenciamento dos dados clínicos, controle de sessões e agendamento com lembretes automatizados, reduzindo esquecimentos de consultas. Além disso, possibilita a geração de relatórios, facilitando o monitoramento do progresso dos pacientes.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Adicionalmente, o aplicativo inclui funcionalidades como desafios e metas, contribuindo para o incentivo dos pacientes à realização dos exercícios. 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6" name="Google Shape;136;p1"/>
          <p:cNvSpPr txBox="1"/>
          <p:nvPr/>
        </p:nvSpPr>
        <p:spPr>
          <a:xfrm>
            <a:off x="136931" y="39681259"/>
            <a:ext cx="28242300" cy="18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b="1" i="0" lang="en-US" sz="4955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IV SEMANA FECAP DE TECNOLOGIA - 2026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b="0" i="0" lang="en-US" sz="4955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Fundação Escola de Comércio Álvares Penteado - FECAP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"/>
          <p:cNvSpPr txBox="1"/>
          <p:nvPr/>
        </p:nvSpPr>
        <p:spPr>
          <a:xfrm>
            <a:off x="15617586" y="10880473"/>
            <a:ext cx="11904000" cy="88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 implementação do aplicativo trouxe melhorias significativas para a clínica RPG Maya, principalmente na organização e no controle das informações dos pacientes. O processo manual foi substituído por um sistema digital, reduzindo erros e facilitando o acesso aos dados.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Além disso, a funcionalidade de agendamento com lembretes contribuiu para a redução de faltas, auxiliando os pacientes a não esquecerem consultas e retornos. O sistema também possibilitou a geração de relatórios, permitindo um acompanhamento mais eficiente do progresso dos pacientes e apoiando a tomada de decisões da profissional.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t/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8" name="Google Shape;138;p1"/>
          <p:cNvSpPr txBox="1"/>
          <p:nvPr/>
        </p:nvSpPr>
        <p:spPr>
          <a:xfrm>
            <a:off x="10637368" y="34007558"/>
            <a:ext cx="2933700" cy="226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"/>
          <p:cNvSpPr txBox="1"/>
          <p:nvPr/>
        </p:nvSpPr>
        <p:spPr>
          <a:xfrm>
            <a:off x="5986612" y="34007558"/>
            <a:ext cx="3222600" cy="3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solidFill>
                <a:schemeClr val="dk1"/>
              </a:solidFill>
            </a:endParaRPr>
          </a:p>
        </p:txBody>
      </p:sp>
      <p:pic>
        <p:nvPicPr>
          <p:cNvPr id="140" name="Google Shape;140;p1" title="Screenshot_20260430_200353_SmartSaude.jp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21763979" y="19624616"/>
            <a:ext cx="4168040" cy="88825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" title="Screenshot_20260430_200008_SmartSaude.jp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6608105" y="19572042"/>
            <a:ext cx="4168038" cy="891035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"/>
          <p:cNvSpPr txBox="1"/>
          <p:nvPr/>
        </p:nvSpPr>
        <p:spPr>
          <a:xfrm>
            <a:off x="21764079" y="28850908"/>
            <a:ext cx="4168200" cy="5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Inter"/>
                <a:ea typeface="Inter"/>
                <a:cs typeface="Inter"/>
                <a:sym typeface="Inter"/>
              </a:rPr>
              <a:t>Tela de agenda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1"/>
          <p:cNvSpPr txBox="1"/>
          <p:nvPr/>
        </p:nvSpPr>
        <p:spPr>
          <a:xfrm>
            <a:off x="3809700" y="33813300"/>
            <a:ext cx="4168200" cy="27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30">
                <a:latin typeface="Open Sans"/>
                <a:ea typeface="Open Sans"/>
                <a:cs typeface="Open Sans"/>
                <a:sym typeface="Open Sans"/>
              </a:rPr>
              <a:t>Frontend:</a:t>
            </a:r>
            <a:endParaRPr b="1" sz="3430">
              <a:latin typeface="Open Sans"/>
              <a:ea typeface="Open Sans"/>
              <a:cs typeface="Open Sans"/>
              <a:sym typeface="Open Sans"/>
            </a:endParaRPr>
          </a:p>
          <a:p>
            <a:pPr indent="-446398" lvl="1" marL="914386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•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Java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-446398" lvl="1" marL="914386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•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Android Studio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-446398" lvl="1" marL="914386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•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Figma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43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4" name="Google Shape;144;p1"/>
          <p:cNvSpPr txBox="1"/>
          <p:nvPr/>
        </p:nvSpPr>
        <p:spPr>
          <a:xfrm>
            <a:off x="7977900" y="33813300"/>
            <a:ext cx="3474600" cy="42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30">
                <a:latin typeface="Open Sans"/>
                <a:ea typeface="Open Sans"/>
                <a:cs typeface="Open Sans"/>
                <a:sym typeface="Open Sans"/>
              </a:rPr>
              <a:t>Backend</a:t>
            </a:r>
            <a:r>
              <a:rPr b="1" lang="en-US" sz="3430">
                <a:latin typeface="Open Sans"/>
                <a:ea typeface="Open Sans"/>
                <a:cs typeface="Open Sans"/>
                <a:sym typeface="Open Sans"/>
              </a:rPr>
              <a:t>:</a:t>
            </a:r>
            <a:endParaRPr b="1" sz="3430">
              <a:latin typeface="Open Sans"/>
              <a:ea typeface="Open Sans"/>
              <a:cs typeface="Open Sans"/>
              <a:sym typeface="Open Sans"/>
            </a:endParaRPr>
          </a:p>
          <a:p>
            <a:pPr indent="-446398" lvl="1" marL="914386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•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Render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-446398" lvl="1" marL="914386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•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Python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-446398" lvl="1" marL="914386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•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FastAPI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-446398" lvl="1" marL="914386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•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Docker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-446398" lvl="1" marL="914386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•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MySQL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